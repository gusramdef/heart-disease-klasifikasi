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4" r:id="rId9"/>
    <p:sldId id="269" r:id="rId10"/>
    <p:sldId id="265" r:id="rId11"/>
    <p:sldId id="266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895A4E-145B-4765-93F0-B7BC2F444C02}">
          <p14:sldIdLst>
            <p14:sldId id="256"/>
            <p14:sldId id="257"/>
            <p14:sldId id="258"/>
            <p14:sldId id="259"/>
            <p14:sldId id="260"/>
            <p14:sldId id="268"/>
            <p14:sldId id="262"/>
            <p14:sldId id="264"/>
            <p14:sldId id="269"/>
            <p14:sldId id="265"/>
            <p14:sldId id="266"/>
            <p14:sldId id="270"/>
            <p14:sldId id="271"/>
            <p14:sldId id="272"/>
          </p14:sldIdLst>
        </p14:section>
        <p14:section name="Untitled Section" id="{C982F215-D156-47F8-8850-D32EA9B2638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0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0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9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2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1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7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2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0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2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Heart Disease Classification Using </a:t>
            </a:r>
            <a:r>
              <a:rPr lang="en-US" dirty="0" err="1"/>
              <a:t>RandomForestClassifier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Case Study 03: Machine Learning</a:t>
            </a:r>
            <a:br>
              <a:rPr lang="en-US" dirty="0"/>
            </a:br>
            <a:r>
              <a:rPr lang="en-US" dirty="0"/>
              <a:t>Oleh: </a:t>
            </a:r>
            <a:r>
              <a:rPr lang="en-US" b="1" dirty="0"/>
              <a:t>gurucandid+1</a:t>
            </a:r>
            <a:br>
              <a:rPr lang="en-US" dirty="0"/>
            </a:br>
            <a:r>
              <a:rPr lang="en-US" dirty="0"/>
              <a:t>Dataset: Cleveland Heart Disease (Kaggle)</a:t>
            </a:r>
            <a:br>
              <a:rPr lang="en-US" dirty="0"/>
            </a:br>
            <a:r>
              <a:rPr lang="en-US" dirty="0" err="1"/>
              <a:t>Tahun</a:t>
            </a:r>
            <a:r>
              <a:rPr lang="en-US" dirty="0"/>
              <a:t>: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FF1A-4B6F-241E-A168-D85CFCA0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765759"/>
            <a:ext cx="6571343" cy="1049235"/>
          </a:xfrm>
        </p:spPr>
        <p:txBody>
          <a:bodyPr/>
          <a:lstStyle/>
          <a:p>
            <a:r>
              <a:rPr lang="en-ID" dirty="0"/>
              <a:t>Latar </a:t>
            </a:r>
            <a:r>
              <a:rPr lang="en-ID" dirty="0" err="1"/>
              <a:t>Belakang</a:t>
            </a:r>
            <a:endParaRPr lang="en-ID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A27DE8-479E-C828-78B9-AA81AB7F5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316" y="2285574"/>
            <a:ext cx="845936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Penyakit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jantung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merupakan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pemengurangi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risiko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fatal.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</a:t>
            </a:r>
            <a:r>
              <a:rPr lang="en-US" altLang="en-US" sz="1400" dirty="0" err="1">
                <a:latin typeface="Arial" panose="020B0604020202020204" pitchFamily="34" charset="0"/>
              </a:rPr>
              <a:t>nyebab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kematian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utama</a:t>
            </a:r>
            <a:r>
              <a:rPr lang="en-US" altLang="en-US" sz="1400" dirty="0">
                <a:latin typeface="Arial" panose="020B0604020202020204" pitchFamily="34" charset="0"/>
              </a:rPr>
              <a:t> di dunia.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 err="1">
                <a:latin typeface="Arial" panose="020B0604020202020204" pitchFamily="34" charset="0"/>
              </a:rPr>
              <a:t>Deteksi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dini</a:t>
            </a:r>
            <a:r>
              <a:rPr lang="en-US" altLang="en-US" sz="1400" dirty="0">
                <a:latin typeface="Arial" panose="020B0604020202020204" pitchFamily="34" charset="0"/>
              </a:rPr>
              <a:t> sangat </a:t>
            </a:r>
            <a:r>
              <a:rPr lang="en-US" altLang="en-US" sz="1400" dirty="0" err="1">
                <a:latin typeface="Arial" panose="020B0604020202020204" pitchFamily="34" charset="0"/>
              </a:rPr>
              <a:t>penting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untuk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membantu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klasifikasi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risiko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pasien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cepat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akurat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3660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0B30-45DF-37AB-DB2A-E250A9ED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928" y="960837"/>
            <a:ext cx="6571343" cy="1049235"/>
          </a:xfrm>
        </p:spPr>
        <p:txBody>
          <a:bodyPr/>
          <a:lstStyle/>
          <a:p>
            <a:r>
              <a:rPr lang="en-ID" dirty="0"/>
              <a:t>Tujuan </a:t>
            </a:r>
            <a:r>
              <a:rPr lang="en-ID" dirty="0" err="1"/>
              <a:t>Proyek</a:t>
            </a:r>
            <a:endParaRPr lang="en-ID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6F7014-E26A-8015-2BF2-A729BBA76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68247"/>
            <a:ext cx="9144000" cy="162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D" sz="1800" dirty="0" err="1"/>
              <a:t>Mengklasifikasikan</a:t>
            </a:r>
            <a:r>
              <a:rPr lang="en-ID" sz="1800" dirty="0"/>
              <a:t> </a:t>
            </a:r>
            <a:r>
              <a:rPr lang="en-ID" sz="1800" dirty="0" err="1"/>
              <a:t>pasien</a:t>
            </a:r>
            <a:r>
              <a:rPr lang="en-ID" sz="1800" dirty="0"/>
              <a:t> yang </a:t>
            </a:r>
            <a:r>
              <a:rPr lang="en-ID" sz="1800" dirty="0" err="1"/>
              <a:t>berisiko</a:t>
            </a:r>
            <a:r>
              <a:rPr lang="en-ID" sz="1800" dirty="0"/>
              <a:t> </a:t>
            </a:r>
            <a:r>
              <a:rPr lang="en-ID" sz="1800" dirty="0" err="1"/>
              <a:t>penyakit</a:t>
            </a:r>
            <a:r>
              <a:rPr lang="en-ID" sz="1800" dirty="0"/>
              <a:t> </a:t>
            </a:r>
            <a:r>
              <a:rPr lang="en-ID" sz="1800" dirty="0" err="1"/>
              <a:t>jantung</a:t>
            </a:r>
            <a:r>
              <a:rPr lang="en-ID" sz="1800" dirty="0"/>
              <a:t>.</a:t>
            </a:r>
          </a:p>
          <a:p>
            <a:r>
              <a:rPr lang="en-ID" sz="1800" dirty="0" err="1"/>
              <a:t>Membangun</a:t>
            </a:r>
            <a:r>
              <a:rPr lang="en-ID" sz="1800" dirty="0"/>
              <a:t> model </a:t>
            </a:r>
            <a:r>
              <a:rPr lang="en-ID" sz="1800" i="1" dirty="0"/>
              <a:t>supervised learning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b="1" dirty="0" err="1"/>
              <a:t>RandomForestClassifier</a:t>
            </a:r>
            <a:r>
              <a:rPr lang="en-ID" sz="1800" dirty="0"/>
              <a:t>.</a:t>
            </a:r>
          </a:p>
          <a:p>
            <a:r>
              <a:rPr lang="en-ID" sz="1800" dirty="0" err="1"/>
              <a:t>Mengevaluasi</a:t>
            </a:r>
            <a:r>
              <a:rPr lang="en-ID" sz="1800" dirty="0"/>
              <a:t> </a:t>
            </a:r>
            <a:r>
              <a:rPr lang="en-ID" sz="1800" dirty="0" err="1"/>
              <a:t>performa</a:t>
            </a:r>
            <a:r>
              <a:rPr lang="en-ID" sz="1800" dirty="0"/>
              <a:t> model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metrik</a:t>
            </a:r>
            <a:r>
              <a:rPr lang="en-ID" sz="1800" dirty="0"/>
              <a:t> </a:t>
            </a:r>
            <a:r>
              <a:rPr lang="en-ID" sz="1800" b="1" dirty="0" err="1"/>
              <a:t>akurasi</a:t>
            </a:r>
            <a:r>
              <a:rPr lang="en-ID" sz="1800" b="1" dirty="0"/>
              <a:t>, precision, recall, dan F1-score</a:t>
            </a:r>
            <a:r>
              <a:rPr lang="en-ID" sz="1800" dirty="0"/>
              <a:t>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AC6FEF0-1DF6-A471-C988-281BEC66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4987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85BE-C820-C35C-F42D-5E1AD8EA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642" y="867036"/>
            <a:ext cx="6571343" cy="1049235"/>
          </a:xfrm>
        </p:spPr>
        <p:txBody>
          <a:bodyPr/>
          <a:lstStyle/>
          <a:p>
            <a:r>
              <a:rPr lang="en-ID"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C3161B-0D99-344A-9926-99BEA969CB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4452" y="2567225"/>
            <a:ext cx="6279283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(Heart Disease Cleveland Dataset)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Jumlah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297 baris × 14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condition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(0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sehat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1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sakit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Fitur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 pain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trestbps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thalach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oldpeak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dll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9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D9E7-1A20-0312-A140-ED9281C0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Exploratory Data Analysis (EDA)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AEDE4A-42EE-E72B-6AA4-B35E8ACBC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pasien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berdasarkan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kelamin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korelasi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terhadap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korelasi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kondisi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pasien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berdasarkan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tekanan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01CA-C3EE-2360-E0CA-440258DC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visual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256E3-F133-5405-1144-F5692610B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usia_gender</a:t>
            </a:r>
            <a:endParaRPr lang="en-I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6BD2D0-7306-41B3-4240-4DBCD8A98D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43038" y="3256916"/>
            <a:ext cx="2965450" cy="177926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439DF-4C61-2B68-40BC-C9E2C2431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usia_tekanandarah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6AA89D1-50A9-383C-3C2B-8D1B5045F6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729163" y="3151717"/>
            <a:ext cx="2965450" cy="1976966"/>
          </a:xfrm>
        </p:spPr>
      </p:pic>
    </p:spTree>
    <p:extLst>
      <p:ext uri="{BB962C8B-B14F-4D97-AF65-F5344CB8AC3E}">
        <p14:creationId xmlns:p14="http://schemas.microsoft.com/office/powerpoint/2010/main" val="199687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D0A6-F8D2-4CF7-4338-AB1CA552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Data Preprocessing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9031-B9A9-D984-3863-752E1B2C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Tidak </a:t>
            </a:r>
            <a:r>
              <a:rPr lang="en-ID" dirty="0" err="1"/>
              <a:t>ditemukan</a:t>
            </a:r>
            <a:r>
              <a:rPr lang="en-ID" dirty="0"/>
              <a:t> </a:t>
            </a:r>
            <a:r>
              <a:rPr lang="en-ID" i="1" dirty="0"/>
              <a:t>missing value</a:t>
            </a:r>
            <a:r>
              <a:rPr lang="en-ID" dirty="0"/>
              <a:t>.</a:t>
            </a:r>
          </a:p>
          <a:p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i="1" dirty="0"/>
              <a:t>feature scaling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b="1" dirty="0" err="1"/>
              <a:t>StandardScaler</a:t>
            </a:r>
            <a:r>
              <a:rPr lang="en-ID" dirty="0"/>
              <a:t>.</a:t>
            </a:r>
          </a:p>
          <a:p>
            <a:r>
              <a:rPr lang="en-ID" dirty="0" err="1"/>
              <a:t>Pembagian</a:t>
            </a:r>
            <a:r>
              <a:rPr lang="en-ID" dirty="0"/>
              <a:t> data: </a:t>
            </a:r>
            <a:r>
              <a:rPr lang="en-ID" b="1" dirty="0"/>
              <a:t>Train 80% – Test 20%</a:t>
            </a:r>
            <a:r>
              <a:rPr lang="en-ID" dirty="0"/>
              <a:t>.</a:t>
            </a:r>
          </a:p>
          <a:p>
            <a:r>
              <a:rPr lang="en-ID" dirty="0"/>
              <a:t>Encoding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kategorikal</a:t>
            </a:r>
            <a:r>
              <a:rPr lang="en-ID" dirty="0"/>
              <a:t> (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diperlukan</a:t>
            </a:r>
            <a:r>
              <a:rPr lang="en-ID" dirty="0"/>
              <a:t>).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684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40D1-B5F7-F1D4-27A9-6204127E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 err="1"/>
              <a:t>Pemodelan</a:t>
            </a:r>
            <a:r>
              <a:rPr lang="en-ID" b="1" dirty="0"/>
              <a:t> Machine Learning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5ACF-5861-95B1-9428-AC999E1A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Algoritma</a:t>
            </a:r>
            <a:r>
              <a:rPr lang="en-ID" dirty="0"/>
              <a:t>: </a:t>
            </a:r>
            <a:r>
              <a:rPr lang="en-ID" b="1" dirty="0" err="1"/>
              <a:t>RandomForestClassifier</a:t>
            </a:r>
            <a:endParaRPr lang="en-ID" dirty="0"/>
          </a:p>
          <a:p>
            <a:r>
              <a:rPr lang="en-ID" dirty="0"/>
              <a:t>Parameter </a:t>
            </a:r>
            <a:r>
              <a:rPr lang="en-ID" dirty="0" err="1"/>
              <a:t>utama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n_estimators</a:t>
            </a:r>
            <a:r>
              <a:rPr lang="en-ID" dirty="0"/>
              <a:t> = 100</a:t>
            </a:r>
          </a:p>
          <a:p>
            <a:pPr lvl="1"/>
            <a:r>
              <a:rPr lang="en-ID" dirty="0" err="1"/>
              <a:t>random_state</a:t>
            </a:r>
            <a:r>
              <a:rPr lang="en-ID" dirty="0"/>
              <a:t> = 42</a:t>
            </a:r>
          </a:p>
          <a:p>
            <a:r>
              <a:rPr lang="en-ID" dirty="0"/>
              <a:t>Model </a:t>
            </a:r>
            <a:r>
              <a:rPr lang="en-ID" dirty="0" err="1"/>
              <a:t>dilatih</a:t>
            </a:r>
            <a:r>
              <a:rPr lang="en-ID" dirty="0"/>
              <a:t> pada data training dan </a:t>
            </a:r>
            <a:r>
              <a:rPr lang="en-ID" dirty="0" err="1"/>
              <a:t>diuji</a:t>
            </a:r>
            <a:r>
              <a:rPr lang="en-ID" dirty="0"/>
              <a:t> pada data testing.</a:t>
            </a:r>
          </a:p>
          <a:p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271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A6E3-5720-BFD5-F1A1-C6C755D7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Evaluasi Model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0E23-A3FE-C424-DC18-1AC065B8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Hasil Evaluasi:</a:t>
            </a:r>
          </a:p>
          <a:p>
            <a:r>
              <a:rPr lang="it-IT" dirty="0"/>
              <a:t>Akurasi: 0.89</a:t>
            </a:r>
          </a:p>
          <a:p>
            <a:r>
              <a:rPr lang="it-IT" dirty="0"/>
              <a:t>Precision: 0.90</a:t>
            </a:r>
          </a:p>
          <a:p>
            <a:r>
              <a:rPr lang="it-IT" dirty="0"/>
              <a:t>Recall: 0.88</a:t>
            </a:r>
          </a:p>
          <a:p>
            <a:r>
              <a:rPr lang="it-IT" dirty="0"/>
              <a:t>F1-score: 0.89</a:t>
            </a:r>
          </a:p>
          <a:p>
            <a:r>
              <a:rPr lang="en-US" dirty="0"/>
              <a:t>Predicted → | 0   1</a:t>
            </a:r>
          </a:p>
          <a:p>
            <a:r>
              <a:rPr lang="en-US" dirty="0"/>
              <a:t>Actual ↓    |---------</a:t>
            </a:r>
          </a:p>
          <a:p>
            <a:r>
              <a:rPr lang="en-US" dirty="0"/>
              <a:t>0            | 45  5</a:t>
            </a:r>
          </a:p>
          <a:p>
            <a:r>
              <a:rPr lang="en-US" dirty="0"/>
              <a:t>1            | 7   38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0172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743A-CE9D-099E-F57E-87374259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4F147D-35C2-25F3-F3E5-1DFF911AA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4620" y="2016125"/>
            <a:ext cx="4148411" cy="3449638"/>
          </a:xfrm>
        </p:spPr>
      </p:pic>
    </p:spTree>
    <p:extLst>
      <p:ext uri="{BB962C8B-B14F-4D97-AF65-F5344CB8AC3E}">
        <p14:creationId xmlns:p14="http://schemas.microsoft.com/office/powerpoint/2010/main" val="174058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4616-B131-6D35-AD0A-841FF68E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Feature Importance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3054-94B8-8DA7-942D-FFB541034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Fitur paling </a:t>
            </a:r>
            <a:r>
              <a:rPr lang="en-ID" dirty="0" err="1"/>
              <a:t>berpengaruh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:</a:t>
            </a:r>
          </a:p>
          <a:p>
            <a:r>
              <a:rPr lang="en-ID" dirty="0"/>
              <a:t>cp (</a:t>
            </a:r>
            <a:r>
              <a:rPr lang="en-ID" i="1" dirty="0"/>
              <a:t>chest pain type</a:t>
            </a:r>
            <a:r>
              <a:rPr lang="en-ID" dirty="0"/>
              <a:t>)</a:t>
            </a:r>
          </a:p>
          <a:p>
            <a:r>
              <a:rPr lang="en-ID" dirty="0" err="1"/>
              <a:t>thalach</a:t>
            </a:r>
            <a:r>
              <a:rPr lang="en-ID" dirty="0"/>
              <a:t> (</a:t>
            </a:r>
            <a:r>
              <a:rPr lang="en-ID" i="1" dirty="0"/>
              <a:t>maximum heart rate achieved</a:t>
            </a:r>
            <a:r>
              <a:rPr lang="en-ID" dirty="0"/>
              <a:t>)</a:t>
            </a:r>
          </a:p>
          <a:p>
            <a:r>
              <a:rPr lang="en-ID" dirty="0" err="1"/>
              <a:t>oldpeak</a:t>
            </a:r>
            <a:endParaRPr lang="en-ID" dirty="0"/>
          </a:p>
          <a:p>
            <a:r>
              <a:rPr lang="en-ID" dirty="0"/>
              <a:t>age</a:t>
            </a:r>
          </a:p>
          <a:p>
            <a:r>
              <a:rPr lang="en-ID" dirty="0" err="1"/>
              <a:t>chol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1983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D684-518D-B6A5-8410-079F6DB7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04127B-2509-92E6-E4F1-EBB3ECF67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067" y="2016125"/>
            <a:ext cx="4599517" cy="3449638"/>
          </a:xfrm>
        </p:spPr>
      </p:pic>
    </p:spTree>
    <p:extLst>
      <p:ext uri="{BB962C8B-B14F-4D97-AF65-F5344CB8AC3E}">
        <p14:creationId xmlns:p14="http://schemas.microsoft.com/office/powerpoint/2010/main" val="211141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81BA-9472-ED19-D610-03E19CC1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Hasil &amp; Insight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AABF-45F4-7947-5BFF-3FC4487FF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Model </a:t>
            </a:r>
            <a:r>
              <a:rPr lang="en-ID" dirty="0" err="1"/>
              <a:t>RandomForest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yang sangat </a:t>
            </a:r>
            <a:r>
              <a:rPr lang="en-ID" dirty="0" err="1"/>
              <a:t>baik</a:t>
            </a:r>
            <a:r>
              <a:rPr lang="en-ID" dirty="0"/>
              <a:t> (</a:t>
            </a:r>
            <a:r>
              <a:rPr lang="en-ID" b="1" dirty="0" err="1"/>
              <a:t>akurasi</a:t>
            </a:r>
            <a:r>
              <a:rPr lang="en-ID" b="1" dirty="0"/>
              <a:t> 89%</a:t>
            </a:r>
            <a:r>
              <a:rPr lang="en-ID" dirty="0"/>
              <a:t>).</a:t>
            </a:r>
          </a:p>
          <a:p>
            <a:r>
              <a:rPr lang="en-ID" dirty="0"/>
              <a:t>Fitur </a:t>
            </a:r>
            <a:r>
              <a:rPr lang="en-ID" b="1" dirty="0"/>
              <a:t>chest pain (cp)</a:t>
            </a:r>
            <a:r>
              <a:rPr lang="en-ID" dirty="0"/>
              <a:t> dan </a:t>
            </a:r>
            <a:r>
              <a:rPr lang="en-ID" b="1" dirty="0"/>
              <a:t>heart rate (</a:t>
            </a:r>
            <a:r>
              <a:rPr lang="en-ID" b="1" dirty="0" err="1"/>
              <a:t>thalach</a:t>
            </a:r>
            <a:r>
              <a:rPr lang="en-ID" b="1" dirty="0"/>
              <a:t>)</a:t>
            </a:r>
            <a:r>
              <a:rPr lang="en-ID" dirty="0"/>
              <a:t> paling </a:t>
            </a:r>
            <a:r>
              <a:rPr lang="en-ID" dirty="0" err="1"/>
              <a:t>berpengaruh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.</a:t>
            </a:r>
          </a:p>
          <a:p>
            <a:r>
              <a:rPr lang="en-ID" dirty="0"/>
              <a:t>Model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skrining</a:t>
            </a:r>
            <a:r>
              <a:rPr lang="en-ID" b="1" dirty="0"/>
              <a:t> </a:t>
            </a:r>
            <a:r>
              <a:rPr lang="en-ID" b="1" dirty="0" err="1"/>
              <a:t>dini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4029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2074-8582-2AEB-B319-A76AD730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Kesimpulan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B96D-C2FC-F061-739E-2F4D1E2AC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RandomForestClassifier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.</a:t>
            </a:r>
          </a:p>
          <a:p>
            <a:r>
              <a:rPr lang="en-ID" dirty="0"/>
              <a:t>Performa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ditingkatkan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hyperparameter tuning</a:t>
            </a:r>
            <a:r>
              <a:rPr lang="en-ID" dirty="0"/>
              <a:t> dan </a:t>
            </a:r>
            <a:r>
              <a:rPr lang="en-ID" b="1" dirty="0"/>
              <a:t>data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besar</a:t>
            </a:r>
            <a:r>
              <a:rPr lang="en-ID" dirty="0"/>
              <a:t>.</a:t>
            </a:r>
          </a:p>
          <a:p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proses </a:t>
            </a:r>
            <a:r>
              <a:rPr lang="en-ID" b="1" dirty="0"/>
              <a:t>end-to-end machine learning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EDA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22504616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116</TotalTime>
  <Words>404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Unicode MS</vt:lpstr>
      <vt:lpstr>Rockwell</vt:lpstr>
      <vt:lpstr>Gallery</vt:lpstr>
      <vt:lpstr>Heart Disease Classification Using RandomForestClassifier</vt:lpstr>
      <vt:lpstr>Latar Belakang</vt:lpstr>
      <vt:lpstr>Tujuan Proyek</vt:lpstr>
      <vt:lpstr>Dataset</vt:lpstr>
      <vt:lpstr>Exploratory Data Analysis (EDA)</vt:lpstr>
      <vt:lpstr>Eda visual</vt:lpstr>
      <vt:lpstr>Data Preprocessing </vt:lpstr>
      <vt:lpstr>Pemodelan Machine Learning </vt:lpstr>
      <vt:lpstr>Evaluasi Model</vt:lpstr>
      <vt:lpstr>Confusion matrix</vt:lpstr>
      <vt:lpstr>Feature Importance </vt:lpstr>
      <vt:lpstr>PowerPoint Presentation</vt:lpstr>
      <vt:lpstr>Hasil &amp; Insight </vt:lpstr>
      <vt:lpstr>Kesimpulan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gurucandid@outlook.com</cp:lastModifiedBy>
  <cp:revision>2</cp:revision>
  <dcterms:created xsi:type="dcterms:W3CDTF">2013-01-27T09:14:16Z</dcterms:created>
  <dcterms:modified xsi:type="dcterms:W3CDTF">2025-11-12T14:10:25Z</dcterms:modified>
  <cp:category/>
</cp:coreProperties>
</file>